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36"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Mini Search Engine/ Information Retrieval System</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Uppu Sindhuja- 2520080045</a:t>
            </a:r>
          </a:p>
          <a:p>
            <a:r>
              <a:rPr lang="en-US" dirty="0">
                <a:solidFill>
                  <a:srgbClr val="0070C0"/>
                </a:solidFill>
              </a:rPr>
              <a:t>P. Bhagya Sri – 2520080024</a:t>
            </a:r>
          </a:p>
          <a:p>
            <a:r>
              <a:rPr lang="en-US" dirty="0">
                <a:solidFill>
                  <a:srgbClr val="0070C0"/>
                </a:solidFill>
              </a:rPr>
              <a:t>Santosh – 2520090051</a:t>
            </a: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a:t>
            </a:r>
            <a:r>
              <a:rPr lang="en-US" sz="1800" b="1" ker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Dyuti Banerjee</a:t>
            </a:r>
            <a:endParaRPr lang="en-US" sz="18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endParaRPr>
          </a:p>
          <a:p>
            <a:r>
              <a:rPr lang="en-US" dirty="0">
                <a:solidFill>
                  <a:srgbClr val="0070C0"/>
                </a:solidFill>
              </a:rPr>
              <a:t>Asst. Prof AI &amp; DS</a:t>
            </a: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853BF997-3E4A-24C2-4144-EA46E09FEC39}"/>
              </a:ext>
            </a:extLst>
          </p:cNvPr>
          <p:cNvSpPr txBox="1"/>
          <p:nvPr/>
        </p:nvSpPr>
        <p:spPr>
          <a:xfrm>
            <a:off x="2997200" y="1564640"/>
            <a:ext cx="8473440" cy="3970318"/>
          </a:xfrm>
          <a:prstGeom prst="rect">
            <a:avLst/>
          </a:prstGeom>
          <a:noFill/>
        </p:spPr>
        <p:txBody>
          <a:bodyPr wrap="square">
            <a:spAutoFit/>
          </a:bodyPr>
          <a:lstStyle/>
          <a:p>
            <a:pPr>
              <a:buNone/>
            </a:pPr>
            <a:r>
              <a:rPr lang="en-IN" sz="3600" b="1" dirty="0" err="1">
                <a:latin typeface="Bahnschrift Condensed" panose="020B0502040204020203" pitchFamily="34" charset="0"/>
              </a:rPr>
              <a:t>WordVault</a:t>
            </a:r>
            <a:r>
              <a:rPr lang="en-IN" sz="3600" b="1" dirty="0">
                <a:latin typeface="Bahnschrift Condensed" panose="020B0502040204020203" pitchFamily="34" charset="0"/>
              </a:rPr>
              <a:t> is a website that stores Word documents on your computer and helps you find information in them quickly. It searches by keywords or exact phrases, suggests corrections for spelling mistakes, and finds documents with similar content. By indexing documents when they’re added, </a:t>
            </a:r>
            <a:r>
              <a:rPr lang="en-IN" sz="3600" b="1" dirty="0" err="1">
                <a:latin typeface="Bahnschrift Condensed" panose="020B0502040204020203" pitchFamily="34" charset="0"/>
              </a:rPr>
              <a:t>WordVault</a:t>
            </a:r>
            <a:r>
              <a:rPr lang="en-IN" sz="3600" b="1" dirty="0">
                <a:latin typeface="Bahnschrift Condensed" panose="020B0502040204020203" pitchFamily="34" charset="0"/>
              </a:rPr>
              <a:t> makes searching easier than opening files one by one</a:t>
            </a:r>
            <a:r>
              <a:rPr lang="en-IN" sz="3600" dirty="0">
                <a:latin typeface="Bahnschrift Condensed" panose="020B0502040204020203" pitchFamily="34" charset="0"/>
              </a:rPr>
              <a:t>.</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B7DCBEF7-62EA-6754-A02F-48DD0608E00F}"/>
              </a:ext>
            </a:extLst>
          </p:cNvPr>
          <p:cNvSpPr txBox="1"/>
          <p:nvPr/>
        </p:nvSpPr>
        <p:spPr>
          <a:xfrm>
            <a:off x="3047998" y="1586637"/>
            <a:ext cx="7985761" cy="3970318"/>
          </a:xfrm>
          <a:prstGeom prst="rect">
            <a:avLst/>
          </a:prstGeom>
          <a:noFill/>
        </p:spPr>
        <p:txBody>
          <a:bodyPr wrap="square">
            <a:spAutoFit/>
          </a:bodyPr>
          <a:lstStyle/>
          <a:p>
            <a:pPr>
              <a:buNone/>
            </a:pPr>
            <a:r>
              <a:rPr lang="en-IN" sz="3600" dirty="0">
                <a:latin typeface="Bahnschrift Condensed" panose="020B0502040204020203" pitchFamily="34" charset="0"/>
              </a:rPr>
              <a:t>We often save many documents on our computers, and finding one specific file can take time. </a:t>
            </a:r>
            <a:r>
              <a:rPr lang="en-IN" sz="3600" dirty="0" err="1">
                <a:latin typeface="Bahnschrift Condensed" panose="020B0502040204020203" pitchFamily="34" charset="0"/>
              </a:rPr>
              <a:t>WordVault</a:t>
            </a:r>
            <a:r>
              <a:rPr lang="en-IN" sz="3600" dirty="0">
                <a:latin typeface="Bahnschrift Condensed" panose="020B0502040204020203" pitchFamily="34" charset="0"/>
              </a:rPr>
              <a:t> gives us one place to upload and manage Word documents, then search their contents in different ways. It uses indexing to find matching documents quickly, so users don’t have to open every file one by 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93F4A4A8-7CC8-B68B-7007-FA42DEA26065}"/>
              </a:ext>
            </a:extLst>
          </p:cNvPr>
          <p:cNvSpPr txBox="1"/>
          <p:nvPr/>
        </p:nvSpPr>
        <p:spPr>
          <a:xfrm>
            <a:off x="2865120" y="1783418"/>
            <a:ext cx="8849360" cy="3539430"/>
          </a:xfrm>
          <a:prstGeom prst="rect">
            <a:avLst/>
          </a:prstGeom>
          <a:noFill/>
        </p:spPr>
        <p:txBody>
          <a:bodyPr wrap="square">
            <a:spAutoFit/>
          </a:bodyPr>
          <a:lstStyle/>
          <a:p>
            <a:pPr>
              <a:buNone/>
            </a:pPr>
            <a:r>
              <a:rPr lang="en-IN" sz="3200" dirty="0">
                <a:latin typeface="Bahnschrift Condensed" panose="020B0502040204020203" pitchFamily="34" charset="0"/>
              </a:rPr>
              <a:t>Many existing tools, such as Google Drive, </a:t>
            </a:r>
            <a:r>
              <a:rPr lang="en-IN" sz="3200" dirty="0" err="1">
                <a:latin typeface="Bahnschrift Condensed" panose="020B0502040204020203" pitchFamily="34" charset="0"/>
              </a:rPr>
              <a:t>DocFetcher</a:t>
            </a:r>
            <a:r>
              <a:rPr lang="en-IN" sz="3200" dirty="0">
                <a:latin typeface="Bahnschrift Condensed" panose="020B0502040204020203" pitchFamily="34" charset="0"/>
              </a:rPr>
              <a:t>, and </a:t>
            </a:r>
            <a:r>
              <a:rPr lang="en-IN" sz="3200" dirty="0" err="1">
                <a:latin typeface="Bahnschrift Condensed" panose="020B0502040204020203" pitchFamily="34" charset="0"/>
              </a:rPr>
              <a:t>Recoll</a:t>
            </a:r>
            <a:r>
              <a:rPr lang="en-IN" sz="3200" dirty="0">
                <a:latin typeface="Bahnschrift Condensed" panose="020B0502040204020203" pitchFamily="34" charset="0"/>
              </a:rPr>
              <a:t>, help users find files by searching their names or contents. Some tools also support phrase searches, spelling suggestions, and filters. These examples show that indexing documents can make searching faster than checking each file manually. Our project uses similar ideas in a simple website focused on storing and searching Word documents.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896678AA-2109-D27E-E81F-4A62127C94CB}"/>
              </a:ext>
            </a:extLst>
          </p:cNvPr>
          <p:cNvSpPr txBox="1"/>
          <p:nvPr/>
        </p:nvSpPr>
        <p:spPr>
          <a:xfrm>
            <a:off x="2973884" y="1243876"/>
            <a:ext cx="8821876" cy="2062103"/>
          </a:xfrm>
          <a:prstGeom prst="rect">
            <a:avLst/>
          </a:prstGeom>
          <a:noFill/>
        </p:spPr>
        <p:txBody>
          <a:bodyPr wrap="square">
            <a:spAutoFit/>
          </a:bodyPr>
          <a:lstStyle/>
          <a:p>
            <a:pPr>
              <a:buNone/>
            </a:pPr>
            <a:r>
              <a:rPr lang="en-IN" sz="3200" b="1" dirty="0">
                <a:latin typeface="Bahnschrift Condensed" panose="020B0502040204020203" pitchFamily="34" charset="0"/>
              </a:rPr>
              <a:t>Problem statement:</a:t>
            </a:r>
            <a:br>
              <a:rPr lang="en-IN" sz="3200" dirty="0">
                <a:latin typeface="Bahnschrift Condensed" panose="020B0502040204020203" pitchFamily="34" charset="0"/>
              </a:rPr>
            </a:br>
            <a:r>
              <a:rPr lang="en-IN" sz="3200" dirty="0">
                <a:latin typeface="Bahnschrift Condensed" panose="020B0502040204020203" pitchFamily="34" charset="0"/>
              </a:rPr>
              <a:t>When people have many Word documents, finding the right information can take a long time because they may need to open files one by one.</a:t>
            </a:r>
          </a:p>
        </p:txBody>
      </p:sp>
      <p:sp>
        <p:nvSpPr>
          <p:cNvPr id="7" name="TextBox 6">
            <a:extLst>
              <a:ext uri="{FF2B5EF4-FFF2-40B4-BE49-F238E27FC236}">
                <a16:creationId xmlns:a16="http://schemas.microsoft.com/office/drawing/2014/main" id="{DCD41AC2-BD1D-60F2-6C35-79C932D609B5}"/>
              </a:ext>
            </a:extLst>
          </p:cNvPr>
          <p:cNvSpPr txBox="1"/>
          <p:nvPr/>
        </p:nvSpPr>
        <p:spPr>
          <a:xfrm>
            <a:off x="2885440" y="3552022"/>
            <a:ext cx="8821876" cy="3046988"/>
          </a:xfrm>
          <a:prstGeom prst="rect">
            <a:avLst/>
          </a:prstGeom>
          <a:noFill/>
        </p:spPr>
        <p:txBody>
          <a:bodyPr wrap="square">
            <a:spAutoFit/>
          </a:bodyPr>
          <a:lstStyle/>
          <a:p>
            <a:pPr>
              <a:buNone/>
            </a:pPr>
            <a:r>
              <a:rPr lang="en-IN" sz="3200" b="1" dirty="0">
                <a:latin typeface="Bahnschrift Condensed" panose="020B0502040204020203" pitchFamily="34" charset="0"/>
              </a:rPr>
              <a:t>Objectives:</a:t>
            </a:r>
            <a:br>
              <a:rPr lang="en-IN" sz="3200" dirty="0">
                <a:latin typeface="Bahnschrift Condensed" panose="020B0502040204020203" pitchFamily="34" charset="0"/>
              </a:rPr>
            </a:br>
            <a:r>
              <a:rPr lang="en-IN" sz="3200" dirty="0">
                <a:latin typeface="Bahnschrift Condensed" panose="020B0502040204020203" pitchFamily="34" charset="0"/>
              </a:rPr>
              <a:t>Our goal is to make document storage and searching easier. </a:t>
            </a:r>
            <a:r>
              <a:rPr lang="en-IN" sz="3200" dirty="0" err="1">
                <a:latin typeface="Bahnschrift Condensed" panose="020B0502040204020203" pitchFamily="34" charset="0"/>
              </a:rPr>
              <a:t>WordVault</a:t>
            </a:r>
            <a:r>
              <a:rPr lang="en-IN" sz="3200" dirty="0">
                <a:latin typeface="Bahnschrift Condensed" panose="020B0502040204020203" pitchFamily="34" charset="0"/>
              </a:rPr>
              <a:t> lets users upload, view, download, and delete Word documents. It also searches by keywords or exact phrases, suggests spelling corrections, and finds documents with similar content.</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9" name="Picture 8">
            <a:extLst>
              <a:ext uri="{FF2B5EF4-FFF2-40B4-BE49-F238E27FC236}">
                <a16:creationId xmlns:a16="http://schemas.microsoft.com/office/drawing/2014/main" id="{58C3C4AC-3D10-D21C-C47B-472B3696EA99}"/>
              </a:ext>
            </a:extLst>
          </p:cNvPr>
          <p:cNvPicPr>
            <a:picLocks noChangeAspect="1"/>
          </p:cNvPicPr>
          <p:nvPr/>
        </p:nvPicPr>
        <p:blipFill>
          <a:blip r:embed="rId2"/>
          <a:stretch>
            <a:fillRect/>
          </a:stretch>
        </p:blipFill>
        <p:spPr>
          <a:xfrm>
            <a:off x="1592188" y="2859910"/>
            <a:ext cx="9007621" cy="29872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378B3338-BA37-3CA2-E5EE-5A17F713E3A5}"/>
              </a:ext>
            </a:extLst>
          </p:cNvPr>
          <p:cNvSpPr txBox="1"/>
          <p:nvPr/>
        </p:nvSpPr>
        <p:spPr>
          <a:xfrm>
            <a:off x="3119120" y="942816"/>
            <a:ext cx="8006080" cy="923330"/>
          </a:xfrm>
          <a:prstGeom prst="rect">
            <a:avLst/>
          </a:prstGeom>
          <a:noFill/>
        </p:spPr>
        <p:txBody>
          <a:bodyPr wrap="square">
            <a:spAutoFit/>
          </a:bodyPr>
          <a:lstStyle/>
          <a:p>
            <a:r>
              <a:rPr lang="en-IN" dirty="0" err="1">
                <a:latin typeface="Bahnschrift Condensed" panose="020B0502040204020203" pitchFamily="34" charset="0"/>
              </a:rPr>
              <a:t>WordVault</a:t>
            </a:r>
            <a:r>
              <a:rPr lang="en-IN" dirty="0">
                <a:latin typeface="Bahnschrift Condensed" panose="020B0502040204020203" pitchFamily="34" charset="0"/>
              </a:rPr>
              <a:t> stores uploaded Word documents and indexes their text for searching. Users can search by keyword or exact phrase, find spelling corrections, and discover related documents. Search results show matching documents, with the searched words highlighted for easier reading.</a:t>
            </a:r>
          </a:p>
        </p:txBody>
      </p:sp>
      <p:pic>
        <p:nvPicPr>
          <p:cNvPr id="7" name="Picture 6">
            <a:extLst>
              <a:ext uri="{FF2B5EF4-FFF2-40B4-BE49-F238E27FC236}">
                <a16:creationId xmlns:a16="http://schemas.microsoft.com/office/drawing/2014/main" id="{EC9988F3-84BC-F089-2DD1-2B011047E239}"/>
              </a:ext>
            </a:extLst>
          </p:cNvPr>
          <p:cNvPicPr>
            <a:picLocks noChangeAspect="1"/>
          </p:cNvPicPr>
          <p:nvPr/>
        </p:nvPicPr>
        <p:blipFill>
          <a:blip r:embed="rId2"/>
          <a:stretch>
            <a:fillRect/>
          </a:stretch>
        </p:blipFill>
        <p:spPr>
          <a:xfrm>
            <a:off x="2641600" y="2112207"/>
            <a:ext cx="8961120" cy="4277216"/>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4E3F574A-89A0-2CBA-D94A-A7E5ACCC6DAF}"/>
              </a:ext>
            </a:extLst>
          </p:cNvPr>
          <p:cNvSpPr txBox="1"/>
          <p:nvPr/>
        </p:nvSpPr>
        <p:spPr>
          <a:xfrm>
            <a:off x="3241040" y="1445121"/>
            <a:ext cx="6096000" cy="1938992"/>
          </a:xfrm>
          <a:prstGeom prst="rect">
            <a:avLst/>
          </a:prstGeom>
          <a:noFill/>
        </p:spPr>
        <p:txBody>
          <a:bodyPr wrap="square">
            <a:spAutoFit/>
          </a:bodyPr>
          <a:lstStyle/>
          <a:p>
            <a:pPr>
              <a:buNone/>
            </a:pPr>
            <a:r>
              <a:rPr lang="en-IN" sz="2400" b="1" dirty="0">
                <a:latin typeface="Bahnschrift Condensed" panose="020B0502040204020203" pitchFamily="34" charset="0"/>
              </a:rPr>
              <a:t>Hardware Requirements</a:t>
            </a:r>
          </a:p>
          <a:p>
            <a:pPr marL="342900" lvl="0" indent="-342900">
              <a:buFont typeface="Arial" panose="020B0604020202020204" pitchFamily="34" charset="0"/>
              <a:buChar char="•"/>
            </a:pPr>
            <a:r>
              <a:rPr lang="en-IN" sz="2400" dirty="0">
                <a:latin typeface="Bahnschrift Condensed" panose="020B0502040204020203" pitchFamily="34" charset="0"/>
              </a:rPr>
              <a:t>Computer with a dual-core processor or better</a:t>
            </a:r>
          </a:p>
          <a:p>
            <a:pPr marL="342900" lvl="0" indent="-342900">
              <a:buFont typeface="Arial" panose="020B0604020202020204" pitchFamily="34" charset="0"/>
              <a:buChar char="•"/>
            </a:pPr>
            <a:r>
              <a:rPr lang="en-IN" sz="2400" dirty="0">
                <a:latin typeface="Bahnschrift Condensed" panose="020B0502040204020203" pitchFamily="34" charset="0"/>
              </a:rPr>
              <a:t>At least 4 GB RAM</a:t>
            </a:r>
          </a:p>
          <a:p>
            <a:pPr marL="342900" lvl="0" indent="-342900">
              <a:buFont typeface="Arial" panose="020B0604020202020204" pitchFamily="34" charset="0"/>
              <a:buChar char="•"/>
            </a:pPr>
            <a:r>
              <a:rPr lang="en-IN" sz="2400" dirty="0">
                <a:latin typeface="Bahnschrift Condensed" panose="020B0502040204020203" pitchFamily="34" charset="0"/>
              </a:rPr>
              <a:t>500 MB of free storage for the application and documents</a:t>
            </a:r>
          </a:p>
        </p:txBody>
      </p:sp>
      <p:sp>
        <p:nvSpPr>
          <p:cNvPr id="7" name="TextBox 6">
            <a:extLst>
              <a:ext uri="{FF2B5EF4-FFF2-40B4-BE49-F238E27FC236}">
                <a16:creationId xmlns:a16="http://schemas.microsoft.com/office/drawing/2014/main" id="{B39C1154-E5B2-E8B1-FB2D-4D8F32B08266}"/>
              </a:ext>
            </a:extLst>
          </p:cNvPr>
          <p:cNvSpPr txBox="1"/>
          <p:nvPr/>
        </p:nvSpPr>
        <p:spPr>
          <a:xfrm>
            <a:off x="3241040" y="3658553"/>
            <a:ext cx="6096000" cy="2308324"/>
          </a:xfrm>
          <a:prstGeom prst="rect">
            <a:avLst/>
          </a:prstGeom>
          <a:noFill/>
        </p:spPr>
        <p:txBody>
          <a:bodyPr wrap="square">
            <a:spAutoFit/>
          </a:bodyPr>
          <a:lstStyle/>
          <a:p>
            <a:pPr>
              <a:buNone/>
            </a:pPr>
            <a:r>
              <a:rPr lang="en-IN" sz="2400" b="1" dirty="0">
                <a:latin typeface="Bahnschrift Condensed" panose="020B0502040204020203" pitchFamily="34" charset="0"/>
              </a:rPr>
              <a:t>Software Requirements</a:t>
            </a:r>
          </a:p>
          <a:p>
            <a:pPr marL="342900" lvl="0" indent="-342900">
              <a:buFont typeface="Arial" panose="020B0604020202020204" pitchFamily="34" charset="0"/>
              <a:buChar char="•"/>
            </a:pPr>
            <a:r>
              <a:rPr lang="en-IN" sz="2400" dirty="0">
                <a:latin typeface="Bahnschrift Condensed" panose="020B0502040204020203" pitchFamily="34" charset="0"/>
              </a:rPr>
              <a:t>Windows 10 or later</a:t>
            </a:r>
          </a:p>
          <a:p>
            <a:pPr marL="342900" lvl="0" indent="-342900">
              <a:buFont typeface="Arial" panose="020B0604020202020204" pitchFamily="34" charset="0"/>
              <a:buChar char="•"/>
            </a:pPr>
            <a:r>
              <a:rPr lang="en-IN" sz="2400" dirty="0">
                <a:latin typeface="Bahnschrift Condensed" panose="020B0502040204020203" pitchFamily="34" charset="0"/>
              </a:rPr>
              <a:t>Java Development Kit (JDK) 17 or later</a:t>
            </a:r>
          </a:p>
          <a:p>
            <a:pPr marL="342900" lvl="0" indent="-342900">
              <a:buFont typeface="Arial" panose="020B0604020202020204" pitchFamily="34" charset="0"/>
              <a:buChar char="•"/>
            </a:pPr>
            <a:r>
              <a:rPr lang="en-IN" sz="2400" dirty="0">
                <a:latin typeface="Bahnschrift Condensed" panose="020B0502040204020203" pitchFamily="34" charset="0"/>
              </a:rPr>
              <a:t>Apache Maven</a:t>
            </a:r>
          </a:p>
          <a:p>
            <a:pPr marL="342900" lvl="0" indent="-342900">
              <a:buFont typeface="Arial" panose="020B0604020202020204" pitchFamily="34" charset="0"/>
              <a:buChar char="•"/>
            </a:pPr>
            <a:r>
              <a:rPr lang="en-IN" sz="2400" dirty="0">
                <a:latin typeface="Bahnschrift Condensed" panose="020B0502040204020203" pitchFamily="34" charset="0"/>
              </a:rPr>
              <a:t>Visual Studio Code</a:t>
            </a:r>
          </a:p>
          <a:p>
            <a:pPr marL="342900" lvl="0" indent="-342900">
              <a:buFont typeface="Arial" panose="020B0604020202020204" pitchFamily="34" charset="0"/>
              <a:buChar char="•"/>
            </a:pPr>
            <a:r>
              <a:rPr lang="en-IN" sz="2400" dirty="0">
                <a:latin typeface="Bahnschrift Condensed" panose="020B0502040204020203" pitchFamily="34" charset="0"/>
              </a:rPr>
              <a:t>Modern web browser such as Chrome or Edge</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16C510EF-417A-B40D-044C-512BE0FA7CDC}"/>
              </a:ext>
            </a:extLst>
          </p:cNvPr>
          <p:cNvSpPr txBox="1"/>
          <p:nvPr/>
        </p:nvSpPr>
        <p:spPr>
          <a:xfrm>
            <a:off x="3139440" y="1613376"/>
            <a:ext cx="8442960" cy="3046988"/>
          </a:xfrm>
          <a:prstGeom prst="rect">
            <a:avLst/>
          </a:prstGeom>
          <a:noFill/>
        </p:spPr>
        <p:txBody>
          <a:bodyPr wrap="square">
            <a:spAutoFit/>
          </a:bodyPr>
          <a:lstStyle/>
          <a:p>
            <a:pPr>
              <a:buNone/>
            </a:pPr>
            <a:r>
              <a:rPr lang="en-IN" sz="3200" b="1" dirty="0">
                <a:latin typeface="Bahnschrift Condensed" panose="020B0502040204020203" pitchFamily="34" charset="0"/>
              </a:rPr>
              <a:t>Conclusion</a:t>
            </a:r>
          </a:p>
          <a:p>
            <a:pPr>
              <a:buNone/>
            </a:pPr>
            <a:r>
              <a:rPr lang="en-IN" sz="3200" dirty="0" err="1">
                <a:latin typeface="Bahnschrift Condensed" panose="020B0502040204020203" pitchFamily="34" charset="0"/>
              </a:rPr>
              <a:t>WordVault</a:t>
            </a:r>
            <a:r>
              <a:rPr lang="en-IN" sz="3200" dirty="0">
                <a:latin typeface="Bahnschrift Condensed" panose="020B0502040204020203" pitchFamily="34" charset="0"/>
              </a:rPr>
              <a:t> provides a simple way to store Word documents and find information in them. It uses search techniques such as keyword and phrase matching, spelling correction, and related document search to help users find relevant files quickly.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7DCC4C34-E2B3-8488-19E9-C08E61A499ED}"/>
              </a:ext>
            </a:extLst>
          </p:cNvPr>
          <p:cNvSpPr txBox="1"/>
          <p:nvPr/>
        </p:nvSpPr>
        <p:spPr>
          <a:xfrm>
            <a:off x="2987040" y="1491456"/>
            <a:ext cx="8402320" cy="3046988"/>
          </a:xfrm>
          <a:prstGeom prst="rect">
            <a:avLst/>
          </a:prstGeom>
          <a:noFill/>
        </p:spPr>
        <p:txBody>
          <a:bodyPr wrap="square">
            <a:spAutoFit/>
          </a:bodyPr>
          <a:lstStyle/>
          <a:p>
            <a:pPr>
              <a:buNone/>
            </a:pPr>
            <a:r>
              <a:rPr lang="en-IN" sz="3200" b="1" dirty="0">
                <a:latin typeface="Bahnschrift Condensed" panose="020B0502040204020203" pitchFamily="34" charset="0"/>
              </a:rPr>
              <a:t>Future Scope:</a:t>
            </a:r>
          </a:p>
          <a:p>
            <a:pPr>
              <a:buNone/>
            </a:pPr>
            <a:endParaRPr lang="en-IN" sz="3200" b="1" dirty="0">
              <a:latin typeface="Bahnschrift Condensed" panose="020B0502040204020203" pitchFamily="34" charset="0"/>
            </a:endParaRPr>
          </a:p>
          <a:p>
            <a:pPr>
              <a:buNone/>
            </a:pPr>
            <a:r>
              <a:rPr lang="en-IN" sz="3200" dirty="0" err="1">
                <a:latin typeface="Bahnschrift Condensed" panose="020B0502040204020203" pitchFamily="34" charset="0"/>
              </a:rPr>
              <a:t>WordVault</a:t>
            </a:r>
            <a:r>
              <a:rPr lang="en-IN" sz="3200" dirty="0">
                <a:latin typeface="Bahnschrift Condensed" panose="020B0502040204020203" pitchFamily="34" charset="0"/>
              </a:rPr>
              <a:t> could be improved by supporting more file types, adding user accounts and secure cloud backups, and allowing document sharing. Search could also be enhanced with filters for date, file name, and document type.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542</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Bahnschrift Condensed</vt:lpstr>
      <vt:lpstr>Calibri</vt:lpstr>
      <vt:lpstr>Times New Roman</vt:lpstr>
      <vt:lpstr>Office Theme</vt:lpstr>
      <vt:lpstr>       Data Structures and Algorithms -3 (25CS2103E)  Mini Search Engine/ Information Retrieval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u sindhuja</cp:lastModifiedBy>
  <cp:revision>20</cp:revision>
  <dcterms:created xsi:type="dcterms:W3CDTF">2024-08-29T05:25:00Z</dcterms:created>
  <dcterms:modified xsi:type="dcterms:W3CDTF">2026-10-12T05:59:18Z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